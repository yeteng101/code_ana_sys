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A33"/>
          </a:solidFill>
          <a:ln w="12700">
            <a:solidFill>
              <a:srgbClr val="111A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19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Reverse Agent  |  libuv + Redis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190B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190B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515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7FF"/>
                </a:solidFill>
              </a:rPr>
              <a:t>代码逆向 Agent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85800" y="19202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45D6E8"/>
                </a:solidFill>
              </a:rPr>
              <a:t>从源码到可审计的调用关系图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94944" y="251460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6D3"/>
                </a:solidFill>
              </a:rPr>
              <a:t>libuv / Redis 源码结构剖析 · Subagent 架构 · JSON 契约 · Demo 验证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3886200"/>
            <a:ext cx="3154680" cy="914400"/>
          </a:xfrm>
          <a:prstGeom prst="roundRect">
            <a:avLst>
              <a:gd name="adj" fmla="val 6000"/>
            </a:avLst>
          </a:prstGeom>
          <a:solidFill>
            <a:srgbClr val="182544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3995928"/>
            <a:ext cx="2935224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5D6E8"/>
                </a:solidFill>
              </a:rPr>
              <a:t>直接调用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45D6E8"/>
                </a:solidFill>
              </a:rPr>
              <a:t>direct_call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26280" y="3886200"/>
            <a:ext cx="3154680" cy="914400"/>
          </a:xfrm>
          <a:prstGeom prst="roundRect">
            <a:avLst>
              <a:gd name="adj" fmla="val 6000"/>
            </a:avLst>
          </a:prstGeom>
          <a:solidFill>
            <a:srgbClr val="182544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36008" y="3995928"/>
            <a:ext cx="2935224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CE5A0"/>
                </a:solidFill>
              </a:rPr>
              <a:t>异步回调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6CE5A0"/>
                </a:solidFill>
              </a:rPr>
              <a:t>callback_edge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366760" y="3886200"/>
            <a:ext cx="3154680" cy="914400"/>
          </a:xfrm>
          <a:prstGeom prst="roundRect">
            <a:avLst>
              <a:gd name="adj" fmla="val 6000"/>
            </a:avLst>
          </a:prstGeom>
          <a:solidFill>
            <a:srgbClr val="182544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76488" y="3995928"/>
            <a:ext cx="2935224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C857"/>
                </a:solidFill>
              </a:rPr>
              <a:t>宏 / 平台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C857"/>
                </a:solidFill>
              </a:rPr>
              <a:t>build profile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13232" y="54864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F"/>
                </a:solidFill>
              </a:rPr>
              <a:t>目标：像专家一样阅读代码，同时保留每个结论的源码证据、配置条件和置信度。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190B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F"/>
                </a:solidFill>
              </a:rPr>
              <a:t>为什么普通调用图不够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6D3"/>
                </a:solidFill>
              </a:rPr>
              <a:t>逆向分析的难点集中在“运行时关系”而非函数名列表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1965960" cy="658368"/>
          </a:xfrm>
          <a:prstGeom prst="roundRect">
            <a:avLst>
              <a:gd name="adj" fmla="val 8333"/>
            </a:avLst>
          </a:prstGeom>
          <a:solidFill>
            <a:srgbClr val="182544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435608"/>
            <a:ext cx="1746504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D6E8"/>
                </a:solidFill>
              </a:rPr>
              <a:t>静态调用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880360" y="1325880"/>
            <a:ext cx="3017520" cy="658368"/>
          </a:xfrm>
          <a:prstGeom prst="roundRect">
            <a:avLst>
              <a:gd name="adj" fmla="val 8333"/>
            </a:avLst>
          </a:prstGeom>
          <a:solidFill>
            <a:srgbClr val="131C35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90088" y="1435608"/>
            <a:ext cx="2798064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7FF"/>
                </a:solidFill>
              </a:rPr>
              <a:t>A 调用 B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325880"/>
            <a:ext cx="5257800" cy="658368"/>
          </a:xfrm>
          <a:prstGeom prst="roundRect">
            <a:avLst>
              <a:gd name="adj" fmla="val 8333"/>
            </a:avLst>
          </a:prstGeom>
          <a:solidFill>
            <a:srgbClr val="131C35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73368" y="1435608"/>
            <a:ext cx="5038344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AB6D3"/>
                </a:solidFill>
              </a:rPr>
              <a:t>可由 AST / IR 直接确认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377440"/>
            <a:ext cx="1965960" cy="658368"/>
          </a:xfrm>
          <a:prstGeom prst="roundRect">
            <a:avLst>
              <a:gd name="adj" fmla="val 8333"/>
            </a:avLst>
          </a:prstGeom>
          <a:solidFill>
            <a:srgbClr val="182544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487168"/>
            <a:ext cx="1746504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CE5A0"/>
                </a:solidFill>
              </a:rPr>
              <a:t>异步回调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880360" y="2377440"/>
            <a:ext cx="3017520" cy="658368"/>
          </a:xfrm>
          <a:prstGeom prst="roundRect">
            <a:avLst>
              <a:gd name="adj" fmla="val 8333"/>
            </a:avLst>
          </a:prstGeom>
          <a:solidFill>
            <a:srgbClr val="131C35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90088" y="2487168"/>
            <a:ext cx="2798064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7FF"/>
                </a:solidFill>
              </a:rPr>
              <a:t>注册点 → 事件 → callback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2377440"/>
            <a:ext cx="5257800" cy="658368"/>
          </a:xfrm>
          <a:prstGeom prst="roundRect">
            <a:avLst>
              <a:gd name="adj" fmla="val 8333"/>
            </a:avLst>
          </a:prstGeom>
          <a:solidFill>
            <a:srgbClr val="131C35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2487168"/>
            <a:ext cx="5038344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AB6D3"/>
                </a:solidFill>
              </a:rPr>
              <a:t>必须保留事件源、线程和队列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429000"/>
            <a:ext cx="1965960" cy="658368"/>
          </a:xfrm>
          <a:prstGeom prst="roundRect">
            <a:avLst>
              <a:gd name="adj" fmla="val 8333"/>
            </a:avLst>
          </a:prstGeom>
          <a:solidFill>
            <a:srgbClr val="182544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538728"/>
            <a:ext cx="1746504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857"/>
                </a:solidFill>
              </a:rPr>
              <a:t>函数指针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880360" y="3429000"/>
            <a:ext cx="3017520" cy="658368"/>
          </a:xfrm>
          <a:prstGeom prst="roundRect">
            <a:avLst>
              <a:gd name="adj" fmla="val 8333"/>
            </a:avLst>
          </a:prstGeom>
          <a:solidFill>
            <a:srgbClr val="131C35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90088" y="3538728"/>
            <a:ext cx="2798064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7FF"/>
                </a:solidFill>
              </a:rPr>
              <a:t>类型 + 赋值流 + 注册 API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63640" y="3429000"/>
            <a:ext cx="5257800" cy="658368"/>
          </a:xfrm>
          <a:prstGeom prst="roundRect">
            <a:avLst>
              <a:gd name="adj" fmla="val 8333"/>
            </a:avLst>
          </a:prstGeom>
          <a:solidFill>
            <a:srgbClr val="131C35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3368" y="3538728"/>
            <a:ext cx="5038344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AB6D3"/>
                </a:solidFill>
              </a:rPr>
              <a:t>结果可能是候选集合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480560"/>
            <a:ext cx="1965960" cy="658368"/>
          </a:xfrm>
          <a:prstGeom prst="roundRect">
            <a:avLst>
              <a:gd name="adj" fmla="val 8333"/>
            </a:avLst>
          </a:prstGeom>
          <a:solidFill>
            <a:srgbClr val="182544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4590288"/>
            <a:ext cx="1746504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D6E8"/>
                </a:solidFill>
              </a:rPr>
              <a:t>编译宏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880360" y="4480560"/>
            <a:ext cx="3017520" cy="658368"/>
          </a:xfrm>
          <a:prstGeom prst="roundRect">
            <a:avLst>
              <a:gd name="adj" fmla="val 8333"/>
            </a:avLst>
          </a:prstGeom>
          <a:solidFill>
            <a:srgbClr val="131C35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90088" y="4590288"/>
            <a:ext cx="2798064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7FF"/>
                </a:solidFill>
              </a:rPr>
              <a:t>Linux / macOS / Windows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63640" y="4480560"/>
            <a:ext cx="5257800" cy="658368"/>
          </a:xfrm>
          <a:prstGeom prst="roundRect">
            <a:avLst>
              <a:gd name="adj" fmla="val 8333"/>
            </a:avLst>
          </a:prstGeom>
          <a:solidFill>
            <a:srgbClr val="131C35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73368" y="4590288"/>
            <a:ext cx="5038344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AB6D3"/>
                </a:solidFill>
              </a:rPr>
              <a:t>同一逻辑有多套实现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743200" y="1097280"/>
            <a:ext cx="0" cy="4389120"/>
          </a:xfrm>
          <a:prstGeom prst="line">
            <a:avLst/>
          </a:prstGeom>
          <a:noFill/>
          <a:ln w="12700">
            <a:solidFill>
              <a:srgbClr val="34436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26480" y="1097280"/>
            <a:ext cx="0" cy="4389120"/>
          </a:xfrm>
          <a:prstGeom prst="line">
            <a:avLst/>
          </a:prstGeom>
          <a:noFill/>
          <a:ln w="12700">
            <a:solidFill>
              <a:srgbClr val="34436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5715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5D6E8"/>
                </a:solidFill>
              </a:rPr>
              <a:t>事实层：Evidence Graph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880360" y="57150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F"/>
                </a:solidFill>
              </a:rPr>
              <a:t>报告、自然语言和图形都从事实层派生，不把模型猜测当作源码事实。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190B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F"/>
                </a:solidFill>
              </a:rPr>
              <a:t>libuv：事件循环与生命周期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6D3"/>
                </a:solidFill>
              </a:rPr>
              <a:t>Unix / Windows 实现分层；loop、watcher、request 共同推进状态机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920240" cy="731520"/>
          </a:xfrm>
          <a:prstGeom prst="roundRect">
            <a:avLst>
              <a:gd name="adj" fmla="val 7500"/>
            </a:avLst>
          </a:prstGeom>
          <a:solidFill>
            <a:srgbClr val="182544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344168"/>
            <a:ext cx="1700784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5D6E8"/>
                </a:solidFill>
              </a:rPr>
              <a:t>uv_run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971800" y="123444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131C35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81528" y="1344168"/>
            <a:ext cx="1883664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7FF"/>
                </a:solidFill>
              </a:rPr>
              <a:t>阶段调度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5F7FF"/>
                </a:solidFill>
              </a:rPr>
              <a:t>pending / prepare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577840" y="123444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131C35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87568" y="1344168"/>
            <a:ext cx="1883664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7FF"/>
                </a:solidFill>
              </a:rPr>
              <a:t>uv__io_poll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5F7FF"/>
                </a:solidFill>
              </a:rPr>
              <a:t>epoll / kqueue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83880" y="1234440"/>
            <a:ext cx="2514600" cy="731520"/>
          </a:xfrm>
          <a:prstGeom prst="roundRect">
            <a:avLst>
              <a:gd name="adj" fmla="val 7500"/>
            </a:avLst>
          </a:prstGeom>
          <a:solidFill>
            <a:srgbClr val="182544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93608" y="1344168"/>
            <a:ext cx="2295144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E5A0"/>
                </a:solidFill>
              </a:rPr>
              <a:t>watcher.callback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514600" y="1600200"/>
            <a:ext cx="411480" cy="0"/>
          </a:xfrm>
          <a:prstGeom prst="line">
            <a:avLst/>
          </a:prstGeom>
          <a:noFill/>
          <a:ln w="20320">
            <a:solidFill>
              <a:srgbClr val="45D6E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120640" y="1600200"/>
            <a:ext cx="411480" cy="0"/>
          </a:xfrm>
          <a:prstGeom prst="line">
            <a:avLst/>
          </a:prstGeom>
          <a:noFill/>
          <a:ln w="20320">
            <a:solidFill>
              <a:srgbClr val="45D6E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726680" y="1600200"/>
            <a:ext cx="411480" cy="0"/>
          </a:xfrm>
          <a:prstGeom prst="line">
            <a:avLst/>
          </a:prstGeom>
          <a:noFill/>
          <a:ln w="20320">
            <a:solidFill>
              <a:srgbClr val="45D6E8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60120" y="3063240"/>
            <a:ext cx="2560320" cy="749808"/>
          </a:xfrm>
          <a:prstGeom prst="roundRect">
            <a:avLst>
              <a:gd name="adj" fmla="val 7317"/>
            </a:avLst>
          </a:prstGeom>
          <a:solidFill>
            <a:srgbClr val="131C35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3172968"/>
            <a:ext cx="2340864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7FF"/>
                </a:solidFill>
              </a:rPr>
              <a:t>handle init / start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00600" y="3063240"/>
            <a:ext cx="2560320" cy="749808"/>
          </a:xfrm>
          <a:prstGeom prst="roundRect">
            <a:avLst>
              <a:gd name="adj" fmla="val 7317"/>
            </a:avLst>
          </a:prstGeom>
          <a:solidFill>
            <a:srgbClr val="131C35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0328" y="3172968"/>
            <a:ext cx="2340864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7FF"/>
                </a:solidFill>
              </a:rPr>
              <a:t>worker / async completion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41080" y="3063240"/>
            <a:ext cx="2560320" cy="749808"/>
          </a:xfrm>
          <a:prstGeom prst="roundRect">
            <a:avLst>
              <a:gd name="adj" fmla="val 7317"/>
            </a:avLst>
          </a:prstGeom>
          <a:solidFill>
            <a:srgbClr val="131C35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50808" y="3172968"/>
            <a:ext cx="2340864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7FF"/>
                </a:solidFill>
              </a:rPr>
              <a:t>uv_close + close_cb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566160" y="3438144"/>
            <a:ext cx="1143000" cy="0"/>
          </a:xfrm>
          <a:prstGeom prst="line">
            <a:avLst/>
          </a:prstGeom>
          <a:noFill/>
          <a:ln w="20320">
            <a:solidFill>
              <a:srgbClr val="6CE5A0"/>
            </a:solidFill>
            <a:prstDash val="dash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406640" y="3438144"/>
            <a:ext cx="1143000" cy="0"/>
          </a:xfrm>
          <a:prstGeom prst="line">
            <a:avLst/>
          </a:prstGeom>
          <a:noFill/>
          <a:ln w="20320">
            <a:solidFill>
              <a:srgbClr val="6CE5A0"/>
            </a:solidFill>
            <a:prstDash val="dash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822960" y="49834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F"/>
                </a:solidFill>
              </a:rPr>
              <a:t>关键建模：注册点、触发点、回调点必须是三类独立证据；uv_close 是延迟关闭语义。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2960" y="559612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6D3"/>
                </a:solidFill>
              </a:rPr>
              <a:t>源码区域：include/uv.h · src/uv-common.c · src/unix/* · src/win/* · test/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190B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F"/>
                </a:solidFill>
              </a:rPr>
              <a:t>Redis：从 socket 事件到命令执行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6D3"/>
                </a:solidFill>
              </a:rPr>
              <a:t>事件抽象层保持稳定，平台 backend 和业务状态机分别建模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600200" cy="804672"/>
          </a:xfrm>
          <a:prstGeom prst="roundRect">
            <a:avLst>
              <a:gd name="adj" fmla="val 6818"/>
            </a:avLst>
          </a:prstGeom>
          <a:solidFill>
            <a:srgbClr val="131C35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527048"/>
            <a:ext cx="1380744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F"/>
                </a:solidFill>
              </a:rPr>
              <a:t>aeMain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76272" y="1819656"/>
            <a:ext cx="219456" cy="0"/>
          </a:xfrm>
          <a:prstGeom prst="line">
            <a:avLst/>
          </a:prstGeom>
          <a:noFill/>
          <a:ln w="20320">
            <a:solidFill>
              <a:srgbClr val="45D6E8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468880" y="1417320"/>
            <a:ext cx="1600200" cy="804672"/>
          </a:xfrm>
          <a:prstGeom prst="roundRect">
            <a:avLst>
              <a:gd name="adj" fmla="val 6818"/>
            </a:avLst>
          </a:prstGeom>
          <a:solidFill>
            <a:srgbClr val="131C35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78608" y="1527048"/>
            <a:ext cx="1380744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F"/>
                </a:solidFill>
              </a:rPr>
              <a:t>aeProcessEvents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96512" y="1819656"/>
            <a:ext cx="219456" cy="0"/>
          </a:xfrm>
          <a:prstGeom prst="line">
            <a:avLst/>
          </a:prstGeom>
          <a:noFill/>
          <a:ln w="20320">
            <a:solidFill>
              <a:srgbClr val="45D6E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89120" y="1417320"/>
            <a:ext cx="1600200" cy="804672"/>
          </a:xfrm>
          <a:prstGeom prst="roundRect">
            <a:avLst>
              <a:gd name="adj" fmla="val 6818"/>
            </a:avLst>
          </a:prstGeom>
          <a:solidFill>
            <a:srgbClr val="131C35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98848" y="1527048"/>
            <a:ext cx="1380744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F"/>
                </a:solidFill>
              </a:rPr>
              <a:t>aeApiPoll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16752" y="1819656"/>
            <a:ext cx="219456" cy="0"/>
          </a:xfrm>
          <a:prstGeom prst="line">
            <a:avLst/>
          </a:prstGeom>
          <a:noFill/>
          <a:ln w="20320">
            <a:solidFill>
              <a:srgbClr val="45D6E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309360" y="1417320"/>
            <a:ext cx="1600200" cy="804672"/>
          </a:xfrm>
          <a:prstGeom prst="roundRect">
            <a:avLst>
              <a:gd name="adj" fmla="val 6818"/>
            </a:avLst>
          </a:prstGeom>
          <a:solidFill>
            <a:srgbClr val="182544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527048"/>
            <a:ext cx="1380744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CE5A0"/>
                </a:solidFill>
              </a:rPr>
              <a:t>readQueryFromClient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36992" y="1819656"/>
            <a:ext cx="219456" cy="0"/>
          </a:xfrm>
          <a:prstGeom prst="line">
            <a:avLst/>
          </a:prstGeom>
          <a:noFill/>
          <a:ln w="20320">
            <a:solidFill>
              <a:srgbClr val="45D6E8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229600" y="1417320"/>
            <a:ext cx="1600200" cy="804672"/>
          </a:xfrm>
          <a:prstGeom prst="roundRect">
            <a:avLst>
              <a:gd name="adj" fmla="val 6818"/>
            </a:avLst>
          </a:prstGeom>
          <a:solidFill>
            <a:srgbClr val="131C35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9328" y="1527048"/>
            <a:ext cx="1380744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F"/>
                </a:solidFill>
              </a:rPr>
              <a:t>processInputBuffer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857232" y="1819656"/>
            <a:ext cx="219456" cy="0"/>
          </a:xfrm>
          <a:prstGeom prst="line">
            <a:avLst/>
          </a:prstGeom>
          <a:noFill/>
          <a:ln w="20320">
            <a:solidFill>
              <a:srgbClr val="45D6E8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149840" y="1417320"/>
            <a:ext cx="1600200" cy="804672"/>
          </a:xfrm>
          <a:prstGeom prst="roundRect">
            <a:avLst>
              <a:gd name="adj" fmla="val 6818"/>
            </a:avLst>
          </a:prstGeom>
          <a:solidFill>
            <a:srgbClr val="131C35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59568" y="1527048"/>
            <a:ext cx="1380744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F"/>
                </a:solidFill>
              </a:rPr>
              <a:t>processCommand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" y="3337560"/>
            <a:ext cx="2560320" cy="731520"/>
          </a:xfrm>
          <a:prstGeom prst="roundRect">
            <a:avLst>
              <a:gd name="adj" fmla="val 7500"/>
            </a:avLst>
          </a:prstGeom>
          <a:solidFill>
            <a:srgbClr val="182544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" y="3447288"/>
            <a:ext cx="2340864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857"/>
                </a:solidFill>
              </a:rPr>
              <a:t>epoll / kqueue / select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00600" y="3337560"/>
            <a:ext cx="2560320" cy="731520"/>
          </a:xfrm>
          <a:prstGeom prst="roundRect">
            <a:avLst>
              <a:gd name="adj" fmla="val 7500"/>
            </a:avLst>
          </a:prstGeom>
          <a:solidFill>
            <a:srgbClr val="131C35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0328" y="3447288"/>
            <a:ext cx="2340864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7FF"/>
                </a:solidFill>
              </a:rPr>
              <a:t>RESP 解析 + client state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686800" y="3337560"/>
            <a:ext cx="2560320" cy="731520"/>
          </a:xfrm>
          <a:prstGeom prst="roundRect">
            <a:avLst>
              <a:gd name="adj" fmla="val 7500"/>
            </a:avLst>
          </a:prstGeom>
          <a:solidFill>
            <a:srgbClr val="182544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96528" y="3447288"/>
            <a:ext cx="2340864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45D6E8"/>
                </a:solidFill>
              </a:rPr>
              <a:t>command table / module API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566160" y="3703320"/>
            <a:ext cx="1143000" cy="0"/>
          </a:xfrm>
          <a:prstGeom prst="line">
            <a:avLst/>
          </a:prstGeom>
          <a:noFill/>
          <a:ln w="20320">
            <a:solidFill>
              <a:srgbClr val="FFC857"/>
            </a:solidFill>
            <a:prstDash val="dash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452360" y="3703320"/>
            <a:ext cx="1143000" cy="0"/>
          </a:xfrm>
          <a:prstGeom prst="line">
            <a:avLst/>
          </a:prstGeom>
          <a:noFill/>
          <a:ln w="20320">
            <a:solidFill>
              <a:srgbClr val="FFC857"/>
            </a:solidFill>
            <a:prstDash val="dash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749808" y="507492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F"/>
                </a:solidFill>
              </a:rPr>
              <a:t>异步边：file event、time event、BIO 后台任务、Module 回调；fork / replication 需要跨进程状态标记。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49808" y="565099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6D3"/>
                </a:solidFill>
              </a:rPr>
              <a:t>源码区域：src/server.c · src/ae*.c · src/networking.c · src/commands/ · src/rdb.c · src/aof.c · src/module.c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190B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F"/>
                </a:solidFill>
              </a:rPr>
              <a:t>Subagent 组织：一个事实层，多个专项分析器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6D3"/>
                </a:solidFill>
              </a:rPr>
              <a:t>编排器管理依赖、缓存、超时和结果合并；Agent 之间只交换结构化 artifact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251960" y="1051560"/>
            <a:ext cx="3657600" cy="658368"/>
          </a:xfrm>
          <a:prstGeom prst="roundRect">
            <a:avLst>
              <a:gd name="adj" fmla="val 8333"/>
            </a:avLst>
          </a:prstGeom>
          <a:solidFill>
            <a:srgbClr val="182544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61688" y="1161288"/>
            <a:ext cx="3438144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5D6E8"/>
                </a:solidFill>
              </a:rPr>
              <a:t>Orchestrator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131C35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2441448"/>
            <a:ext cx="1563624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F"/>
                </a:solidFill>
              </a:rPr>
              <a:t>Repository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5F7FF"/>
                </a:solidFill>
              </a:rPr>
              <a:t>Indexer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80760" y="1719072"/>
            <a:ext cx="-4681728" cy="548640"/>
          </a:xfrm>
          <a:prstGeom prst="line">
            <a:avLst/>
          </a:prstGeom>
          <a:noFill/>
          <a:ln w="20320">
            <a:solidFill>
              <a:srgbClr val="F5F7FF"/>
            </a:solidFill>
            <a:prstDash val="dash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697480" y="233172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131C35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07208" y="2441448"/>
            <a:ext cx="1563624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857"/>
                </a:solidFill>
              </a:rPr>
              <a:t>Build / Macro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C857"/>
                </a:solidFill>
              </a:rPr>
              <a:t>Analyzer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80760" y="1719072"/>
            <a:ext cx="-2487168" cy="548640"/>
          </a:xfrm>
          <a:prstGeom prst="line">
            <a:avLst/>
          </a:prstGeom>
          <a:noFill/>
          <a:ln w="20320">
            <a:solidFill>
              <a:srgbClr val="FFC857"/>
            </a:solidFill>
            <a:prstDash val="dash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892040" y="233172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131C35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01768" y="2441448"/>
            <a:ext cx="1563624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5D6E8"/>
                </a:solidFill>
              </a:rPr>
              <a:t>Call Graph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45D6E8"/>
                </a:solidFill>
              </a:rPr>
              <a:t>Analyzer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1719072"/>
            <a:ext cx="-292608" cy="548640"/>
          </a:xfrm>
          <a:prstGeom prst="line">
            <a:avLst/>
          </a:prstGeom>
          <a:noFill/>
          <a:ln w="20320">
            <a:solidFill>
              <a:srgbClr val="45D6E8"/>
            </a:solidFill>
            <a:prstDash val="dash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086600" y="233172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131C35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96328" y="2441448"/>
            <a:ext cx="1563624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CE5A0"/>
                </a:solidFill>
              </a:rPr>
              <a:t>Function Pointer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6CE5A0"/>
                </a:solidFill>
              </a:rPr>
              <a:t>Resolver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80760" y="1719072"/>
            <a:ext cx="1901952" cy="548640"/>
          </a:xfrm>
          <a:prstGeom prst="line">
            <a:avLst/>
          </a:prstGeom>
          <a:noFill/>
          <a:ln w="20320">
            <a:solidFill>
              <a:srgbClr val="6CE5A0"/>
            </a:solidFill>
            <a:prstDash val="dash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281160" y="233172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131C35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90888" y="2441448"/>
            <a:ext cx="1563624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CE5A0"/>
                </a:solidFill>
              </a:rPr>
              <a:t>Async Event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6CE5A0"/>
                </a:solidFill>
              </a:rPr>
              <a:t>Tracer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80760" y="1719072"/>
            <a:ext cx="4096512" cy="548640"/>
          </a:xfrm>
          <a:prstGeom prst="line">
            <a:avLst/>
          </a:prstGeom>
          <a:noFill/>
          <a:ln w="20320">
            <a:solidFill>
              <a:srgbClr val="6CE5A0"/>
            </a:solidFill>
            <a:prstDash val="dash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828800" y="4069080"/>
            <a:ext cx="2606040" cy="713232"/>
          </a:xfrm>
          <a:prstGeom prst="roundRect">
            <a:avLst>
              <a:gd name="adj" fmla="val 7692"/>
            </a:avLst>
          </a:prstGeom>
          <a:solidFill>
            <a:srgbClr val="182544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38528" y="4178808"/>
            <a:ext cx="2386584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D6E8"/>
                </a:solidFill>
              </a:rPr>
              <a:t>Architecture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45D6E8"/>
                </a:solidFill>
              </a:rPr>
              <a:t>Synthesizer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00600" y="4069080"/>
            <a:ext cx="2606040" cy="713232"/>
          </a:xfrm>
          <a:prstGeom prst="roundRect">
            <a:avLst>
              <a:gd name="adj" fmla="val 7692"/>
            </a:avLst>
          </a:prstGeom>
          <a:solidFill>
            <a:srgbClr val="182544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0328" y="4178808"/>
            <a:ext cx="2386584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F"/>
                </a:solidFill>
              </a:rPr>
              <a:t>Natural Language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5F7FF"/>
                </a:solidFill>
              </a:rPr>
              <a:t>Analyst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772400" y="4069080"/>
            <a:ext cx="2606040" cy="713232"/>
          </a:xfrm>
          <a:prstGeom prst="roundRect">
            <a:avLst>
              <a:gd name="adj" fmla="val 7692"/>
            </a:avLst>
          </a:prstGeom>
          <a:solidFill>
            <a:srgbClr val="182544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82128" y="4178808"/>
            <a:ext cx="2386584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CE5A0"/>
                </a:solidFill>
              </a:rPr>
              <a:t>Verification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6CE5A0"/>
                </a:solidFill>
              </a:rPr>
              <a:t>Agent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834640" y="3200400"/>
            <a:ext cx="228600" cy="804672"/>
          </a:xfrm>
          <a:prstGeom prst="line">
            <a:avLst/>
          </a:prstGeom>
          <a:noFill/>
          <a:ln w="20320">
            <a:solidFill>
              <a:srgbClr val="45D6E8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760720" y="3200400"/>
            <a:ext cx="320040" cy="804672"/>
          </a:xfrm>
          <a:prstGeom prst="line">
            <a:avLst/>
          </a:prstGeom>
          <a:noFill/>
          <a:ln w="20320">
            <a:solidFill>
              <a:srgbClr val="45D6E8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229600" y="3200400"/>
            <a:ext cx="777240" cy="804672"/>
          </a:xfrm>
          <a:prstGeom prst="line">
            <a:avLst/>
          </a:prstGeom>
          <a:noFill/>
          <a:ln w="20320">
            <a:solidFill>
              <a:srgbClr val="45D6E8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480560" y="4425696"/>
            <a:ext cx="228600" cy="0"/>
          </a:xfrm>
          <a:prstGeom prst="line">
            <a:avLst/>
          </a:prstGeom>
          <a:noFill/>
          <a:ln w="20320">
            <a:solidFill>
              <a:srgbClr val="45D6E8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452360" y="4425696"/>
            <a:ext cx="228600" cy="0"/>
          </a:xfrm>
          <a:prstGeom prst="line">
            <a:avLst/>
          </a:prstGeom>
          <a:noFill/>
          <a:ln w="20320">
            <a:solidFill>
              <a:srgbClr val="45D6E8"/>
            </a:solidFill>
            <a:prstDash val="solid"/>
            <a:headEnd type="non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777240" y="56052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F"/>
                </a:solidFill>
              </a:rPr>
              <a:t>规则：Agent 不覆盖他人结果；冲突保留双方证据并降低置信度。artifact 用内容哈希寻址，可增量复用。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190B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F"/>
                </a:solidFill>
              </a:rPr>
              <a:t>JSON 契约：让结果可组合、可复核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6D3"/>
                </a:solidFill>
              </a:rPr>
              <a:t>请求锁定仓库、commit、编译配置和查询范围；结果必须带 evidence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5257800" cy="4160520"/>
          </a:xfrm>
          <a:prstGeom prst="roundRect">
            <a:avLst>
              <a:gd name="adj" fmla="val 1319"/>
            </a:avLst>
          </a:prstGeom>
          <a:solidFill>
            <a:srgbClr val="182544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344168"/>
            <a:ext cx="5038344" cy="3941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7FF"/>
                </a:solidFill>
              </a:rPr>
              <a:t>AnalysisRequest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5F7FF"/>
                </a:solidFill>
              </a:rPr>
              <a:t>repository.url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5F7FF"/>
                </a:solidFill>
              </a:rPr>
              <a:t>repository.commit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5F7FF"/>
                </a:solidFill>
              </a:rPr>
              <a:t>build_profiles[]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5F7FF"/>
                </a:solidFill>
              </a:rPr>
              <a:t>query.entry_symbols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5F7FF"/>
                </a:solidFill>
              </a:rPr>
              <a:t>query.include_async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5F7FF"/>
                </a:solidFill>
              </a:rPr>
              <a:t>query.include_function_pointers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55080" y="1234440"/>
            <a:ext cx="5257800" cy="4160520"/>
          </a:xfrm>
          <a:prstGeom prst="roundRect">
            <a:avLst>
              <a:gd name="adj" fmla="val 1319"/>
            </a:avLst>
          </a:prstGeom>
          <a:solidFill>
            <a:srgbClr val="182544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64808" y="1344168"/>
            <a:ext cx="5038344" cy="3941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7FF"/>
                </a:solidFill>
              </a:rPr>
              <a:t>AgentResult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5F7FF"/>
                </a:solidFill>
              </a:rPr>
              <a:t>status: success | partial | failed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5F7FF"/>
                </a:solidFill>
              </a:rPr>
              <a:t>findings[].kind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5F7FF"/>
                </a:solidFill>
              </a:rPr>
              <a:t>findings[].confidence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5F7FF"/>
                </a:solidFill>
              </a:rPr>
              <a:t>findings[].condition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5F7FF"/>
                </a:solidFill>
              </a:rPr>
              <a:t>findings[].execution_context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5F7FF"/>
                </a:solidFill>
              </a:rPr>
              <a:t>evidence[].file + line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89320" y="3291840"/>
            <a:ext cx="274320" cy="0"/>
          </a:xfrm>
          <a:prstGeom prst="line">
            <a:avLst/>
          </a:prstGeom>
          <a:noFill/>
          <a:ln w="20320">
            <a:solidFill>
              <a:srgbClr val="45D6E8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822960" y="57150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D6E8"/>
                </a:solidFill>
              </a:rPr>
              <a:t>契约原则：不确定性显式化，配置条件附着在边上，缺失信息进入 warnings。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190B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F"/>
                </a:solidFill>
              </a:rPr>
              <a:t>Demo 验证：两条关键链路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6D3"/>
                </a:solidFill>
              </a:rPr>
              <a:t>先用人工复核 fixture 固定输出形态，再接 AST / IR / compile database 适配器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5257800" cy="685800"/>
          </a:xfrm>
          <a:prstGeom prst="roundRect">
            <a:avLst>
              <a:gd name="adj" fmla="val 8000"/>
            </a:avLst>
          </a:prstGeom>
          <a:solidFill>
            <a:srgbClr val="182544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344168"/>
            <a:ext cx="5038344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5D6E8"/>
                </a:solidFill>
              </a:rPr>
              <a:t>libuv / uv_run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1143000" cy="658368"/>
          </a:xfrm>
          <a:prstGeom prst="roundRect">
            <a:avLst>
              <a:gd name="adj" fmla="val 8333"/>
            </a:avLst>
          </a:prstGeom>
          <a:solidFill>
            <a:srgbClr val="131C35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441448"/>
            <a:ext cx="923544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F"/>
                </a:solidFill>
              </a:rPr>
              <a:t>uv_run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29968" y="2660904"/>
            <a:ext cx="137160" cy="0"/>
          </a:xfrm>
          <a:prstGeom prst="line">
            <a:avLst/>
          </a:prstGeom>
          <a:noFill/>
          <a:ln w="20320">
            <a:solidFill>
              <a:srgbClr val="45D6E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194560" y="2331720"/>
            <a:ext cx="1143000" cy="658368"/>
          </a:xfrm>
          <a:prstGeom prst="roundRect">
            <a:avLst>
              <a:gd name="adj" fmla="val 8333"/>
            </a:avLst>
          </a:prstGeom>
          <a:solidFill>
            <a:srgbClr val="131C35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04288" y="2441448"/>
            <a:ext cx="923544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7FF"/>
                </a:solidFill>
              </a:rPr>
              <a:t>uv__io_poll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55848" y="2660904"/>
            <a:ext cx="137160" cy="0"/>
          </a:xfrm>
          <a:prstGeom prst="line">
            <a:avLst/>
          </a:prstGeom>
          <a:noFill/>
          <a:ln w="20320">
            <a:solidFill>
              <a:srgbClr val="6CE5A0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520440" y="2331720"/>
            <a:ext cx="1143000" cy="658368"/>
          </a:xfrm>
          <a:prstGeom prst="roundRect">
            <a:avLst>
              <a:gd name="adj" fmla="val 8333"/>
            </a:avLst>
          </a:prstGeom>
          <a:solidFill>
            <a:srgbClr val="182544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0168" y="2441448"/>
            <a:ext cx="923544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CE5A0"/>
                </a:solidFill>
              </a:rPr>
              <a:t>watcher.callback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81728" y="2660904"/>
            <a:ext cx="137160" cy="0"/>
          </a:xfrm>
          <a:prstGeom prst="line">
            <a:avLst/>
          </a:prstGeom>
          <a:noFill/>
          <a:ln w="20320">
            <a:solidFill>
              <a:srgbClr val="45D6E8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846320" y="2331720"/>
            <a:ext cx="1143000" cy="658368"/>
          </a:xfrm>
          <a:prstGeom prst="roundRect">
            <a:avLst>
              <a:gd name="adj" fmla="val 8333"/>
            </a:avLst>
          </a:prstGeom>
          <a:solidFill>
            <a:srgbClr val="131C35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56048" y="2441448"/>
            <a:ext cx="923544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7FF"/>
                </a:solidFill>
              </a:rPr>
              <a:t>uv__run_closing_handles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09360" y="1234440"/>
            <a:ext cx="5257800" cy="685800"/>
          </a:xfrm>
          <a:prstGeom prst="roundRect">
            <a:avLst>
              <a:gd name="adj" fmla="val 8000"/>
            </a:avLst>
          </a:prstGeom>
          <a:solidFill>
            <a:srgbClr val="182544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9088" y="1344168"/>
            <a:ext cx="5038344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5D6E8"/>
                </a:solidFill>
              </a:rPr>
              <a:t>Redis / client command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537960" y="2331720"/>
            <a:ext cx="1097280" cy="658368"/>
          </a:xfrm>
          <a:prstGeom prst="roundRect">
            <a:avLst>
              <a:gd name="adj" fmla="val 8333"/>
            </a:avLst>
          </a:prstGeom>
          <a:solidFill>
            <a:srgbClr val="131C35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47688" y="2441448"/>
            <a:ext cx="877824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F7FF"/>
                </a:solidFill>
              </a:rPr>
              <a:t>aeMain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653528" y="2660904"/>
            <a:ext cx="137160" cy="0"/>
          </a:xfrm>
          <a:prstGeom prst="line">
            <a:avLst/>
          </a:prstGeom>
          <a:noFill/>
          <a:ln w="20320">
            <a:solidFill>
              <a:srgbClr val="45D6E8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818120" y="2331720"/>
            <a:ext cx="1097280" cy="658368"/>
          </a:xfrm>
          <a:prstGeom prst="roundRect">
            <a:avLst>
              <a:gd name="adj" fmla="val 8333"/>
            </a:avLst>
          </a:prstGeom>
          <a:solidFill>
            <a:srgbClr val="131C35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27848" y="2441448"/>
            <a:ext cx="877824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5F7FF"/>
                </a:solidFill>
              </a:rPr>
              <a:t>aeApiPoll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933688" y="2660904"/>
            <a:ext cx="137160" cy="0"/>
          </a:xfrm>
          <a:prstGeom prst="line">
            <a:avLst/>
          </a:prstGeom>
          <a:noFill/>
          <a:ln w="20320">
            <a:solidFill>
              <a:srgbClr val="6CE5A0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098280" y="2331720"/>
            <a:ext cx="1097280" cy="658368"/>
          </a:xfrm>
          <a:prstGeom prst="roundRect">
            <a:avLst>
              <a:gd name="adj" fmla="val 8333"/>
            </a:avLst>
          </a:prstGeom>
          <a:solidFill>
            <a:srgbClr val="182544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08008" y="2441448"/>
            <a:ext cx="877824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CE5A0"/>
                </a:solidFill>
              </a:rPr>
              <a:t>readQueryFromClient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0213848" y="2660904"/>
            <a:ext cx="137160" cy="0"/>
          </a:xfrm>
          <a:prstGeom prst="line">
            <a:avLst/>
          </a:prstGeom>
          <a:noFill/>
          <a:ln w="20320">
            <a:solidFill>
              <a:srgbClr val="45D6E8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378440" y="2331720"/>
            <a:ext cx="1097280" cy="658368"/>
          </a:xfrm>
          <a:prstGeom prst="roundRect">
            <a:avLst>
              <a:gd name="adj" fmla="val 8333"/>
            </a:avLst>
          </a:prstGeom>
          <a:solidFill>
            <a:srgbClr val="131C35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488168" y="2441448"/>
            <a:ext cx="877824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5F7FF"/>
                </a:solidFill>
              </a:rPr>
              <a:t>processCommand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097280" y="4069080"/>
            <a:ext cx="2834640" cy="658368"/>
          </a:xfrm>
          <a:prstGeom prst="roundRect">
            <a:avLst>
              <a:gd name="adj" fmla="val 8333"/>
            </a:avLst>
          </a:prstGeom>
          <a:solidFill>
            <a:srgbClr val="131C35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8808"/>
            <a:ext cx="2615184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7FF"/>
                </a:solidFill>
              </a:rPr>
              <a:t>每条边：kind + evidence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663440" y="4069080"/>
            <a:ext cx="2834640" cy="658368"/>
          </a:xfrm>
          <a:prstGeom prst="roundRect">
            <a:avLst>
              <a:gd name="adj" fmla="val 8333"/>
            </a:avLst>
          </a:prstGeom>
          <a:solidFill>
            <a:srgbClr val="131C35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3168" y="4178808"/>
            <a:ext cx="2615184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7FF"/>
                </a:solidFill>
              </a:rPr>
              <a:t>回调边：event + thread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229600" y="4069080"/>
            <a:ext cx="2834640" cy="658368"/>
          </a:xfrm>
          <a:prstGeom prst="roundRect">
            <a:avLst>
              <a:gd name="adj" fmla="val 8333"/>
            </a:avLst>
          </a:prstGeom>
          <a:solidFill>
            <a:srgbClr val="131C35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39328" y="4178808"/>
            <a:ext cx="2615184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7FF"/>
                </a:solidFill>
              </a:rPr>
              <a:t>宏差异：profile 条件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22960" y="559612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6D3"/>
                </a:solidFill>
              </a:rPr>
              <a:t>Demo 输出：JSON 结果 + Mermaid 图 + 自然语言结论。fixture 行号为占位，真实适配器必须替换成精确源码位置。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190B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F"/>
                </a:solidFill>
              </a:rPr>
              <a:t>验收指标与下一步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6D3"/>
                </a:solidFill>
              </a:rPr>
              <a:t>把“看起来合理”升级为可重复、可审计、可回归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3657600" cy="502920"/>
          </a:xfrm>
          <a:prstGeom prst="roundRect">
            <a:avLst>
              <a:gd name="adj" fmla="val 10909"/>
            </a:avLst>
          </a:prstGeom>
          <a:solidFill>
            <a:srgbClr val="131C35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252728"/>
            <a:ext cx="3438144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5F7FF"/>
                </a:solidFill>
              </a:rPr>
              <a:t>关键入口链覆盖率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14300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182544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81728" y="1252728"/>
            <a:ext cx="1197864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5D6E8"/>
                </a:solidFill>
              </a:rPr>
              <a:t>≥ 90%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1920240"/>
            <a:ext cx="3657600" cy="502920"/>
          </a:xfrm>
          <a:prstGeom prst="roundRect">
            <a:avLst>
              <a:gd name="adj" fmla="val 10909"/>
            </a:avLst>
          </a:prstGeom>
          <a:solidFill>
            <a:srgbClr val="131C35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029968"/>
            <a:ext cx="3438144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5F7FF"/>
                </a:solidFill>
              </a:rPr>
              <a:t>回调映射准确率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192024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182544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2029968"/>
            <a:ext cx="1197864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E5A0"/>
                </a:solidFill>
              </a:rPr>
              <a:t>≥ 85%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2697480"/>
            <a:ext cx="3657600" cy="502920"/>
          </a:xfrm>
          <a:prstGeom prst="roundRect">
            <a:avLst>
              <a:gd name="adj" fmla="val 10909"/>
            </a:avLst>
          </a:prstGeom>
          <a:solidFill>
            <a:srgbClr val="131C35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2807208"/>
            <a:ext cx="3438144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5F7FF"/>
                </a:solidFill>
              </a:rPr>
              <a:t>函数指针召回率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269748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182544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81728" y="2807208"/>
            <a:ext cx="1197864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57"/>
                </a:solidFill>
              </a:rPr>
              <a:t>≥ 80%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3474720"/>
            <a:ext cx="3657600" cy="502920"/>
          </a:xfrm>
          <a:prstGeom prst="roundRect">
            <a:avLst>
              <a:gd name="adj" fmla="val 10909"/>
            </a:avLst>
          </a:prstGeom>
          <a:solidFill>
            <a:srgbClr val="131C35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3584448"/>
            <a:ext cx="3438144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5F7FF"/>
                </a:solidFill>
              </a:rPr>
              <a:t>报告证据覆盖率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0" y="347472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182544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1728" y="3584448"/>
            <a:ext cx="1197864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5D6E8"/>
                </a:solidFill>
              </a:rPr>
              <a:t>100%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1520" y="4251960"/>
            <a:ext cx="3657600" cy="502920"/>
          </a:xfrm>
          <a:prstGeom prst="roundRect">
            <a:avLst>
              <a:gd name="adj" fmla="val 10909"/>
            </a:avLst>
          </a:prstGeom>
          <a:solidFill>
            <a:srgbClr val="131C35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4361688"/>
            <a:ext cx="3438144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5F7FF"/>
                </a:solidFill>
              </a:rPr>
              <a:t>同 commit 结果稳定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0" y="425196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182544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1728" y="4361688"/>
            <a:ext cx="1197864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E5A0"/>
                </a:solidFill>
              </a:rPr>
              <a:t>100%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812280" y="1143000"/>
            <a:ext cx="4480560" cy="3474720"/>
          </a:xfrm>
          <a:prstGeom prst="roundRect">
            <a:avLst>
              <a:gd name="adj" fmla="val 1579"/>
            </a:avLst>
          </a:prstGeom>
          <a:solidFill>
            <a:srgbClr val="182544"/>
          </a:solidFill>
          <a:ln w="12700">
            <a:solidFill>
              <a:srgbClr val="34436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22008" y="1252728"/>
            <a:ext cx="4261104" cy="32552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7FF"/>
                </a:solidFill>
              </a:rPr>
              <a:t>实施路线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5F7FF"/>
                </a:solidFill>
              </a:rPr>
              <a:t>1  固定 libuv / Redis commit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5F7FF"/>
                </a:solidFill>
              </a:rPr>
              <a:t>2  接入 AST / IR 与编译数据库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5F7FF"/>
                </a:solidFill>
              </a:rPr>
              <a:t>3  构建 Evidence Graph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5F7FF"/>
                </a:solidFill>
              </a:rPr>
              <a:t>4  增加回调、函数指针、宏分析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5F7FF"/>
                </a:solidFill>
              </a:rPr>
              <a:t>5  接入 NL 问答与图形导出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5F7FF"/>
                </a:solidFill>
              </a:rPr>
              <a:t>6  GitHub Actions 回归验证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77240" y="57150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5D6E8"/>
                </a:solidFill>
              </a:rPr>
              <a:t>交付物：GitHub Demo · JSON Schema · 示例报告 · 调用关系图 · PPT · 演示脚本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190B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代码逆向 Agent</dc:title>
  <dc:subject>代码逆向 Agent 设计与 Demo</dc:subject>
  <dc:creator>Code Reverse Agent</dc:creator>
  <cp:lastModifiedBy>Code Reverse Agent</cp:lastModifiedBy>
  <cp:revision>1</cp:revision>
  <dcterms:created xsi:type="dcterms:W3CDTF">2026-08-20T08:02:18Z</dcterms:created>
  <dcterms:modified xsi:type="dcterms:W3CDTF">2026-08-20T08:02:18Z</dcterms:modified>
</cp:coreProperties>
</file>